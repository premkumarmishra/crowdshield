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rPr dirty="0" err="1"/>
              <a:t>CrowdShield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AI-Powered Predictive Crowd Safety</a:t>
            </a:r>
            <a:br>
              <a:rPr dirty="0"/>
            </a:br>
            <a:br>
              <a:rPr dirty="0"/>
            </a:br>
            <a:r>
              <a:rPr dirty="0"/>
              <a:t>Team: </a:t>
            </a:r>
            <a:r>
              <a:rPr b="1" dirty="0">
                <a:solidFill>
                  <a:srgbClr val="FF00FF"/>
                </a:solidFill>
              </a:rPr>
              <a:t>Fischer Random</a:t>
            </a:r>
            <a:br>
              <a:rPr dirty="0"/>
            </a:br>
            <a:r>
              <a:rPr dirty="0" err="1"/>
              <a:t>Technova</a:t>
            </a:r>
            <a:r>
              <a:rPr dirty="0"/>
              <a:t> </a:t>
            </a:r>
            <a:r>
              <a:rPr lang="en-US" dirty="0"/>
              <a:t>Igniting Brilliance Season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Current Systems React. They Don't Predict.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120+ </a:t>
            </a:r>
            <a:r>
              <a:rPr dirty="0"/>
              <a:t>Deaths in</a:t>
            </a:r>
            <a:r>
              <a:rPr b="1" dirty="0"/>
              <a:t> </a:t>
            </a:r>
            <a:r>
              <a:rPr b="1" dirty="0">
                <a:solidFill>
                  <a:srgbClr val="FF00FF"/>
                </a:solidFill>
              </a:rPr>
              <a:t>2025</a:t>
            </a:r>
            <a:r>
              <a:rPr b="1" dirty="0"/>
              <a:t> </a:t>
            </a:r>
            <a:r>
              <a:rPr dirty="0"/>
              <a:t>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By the time authorities notice danger, it's already too late.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rgbClr val="FF00FF"/>
                </a:solidFill>
              </a:rPr>
              <a:t>CCTV Monitoring</a:t>
            </a:r>
            <a:r>
              <a:rPr dirty="0"/>
              <a:t>: Human operators miss early warning signs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FF"/>
                </a:solidFill>
              </a:rPr>
              <a:t>Manual Barricading</a:t>
            </a:r>
            <a:r>
              <a:rPr lang="en-US" dirty="0"/>
              <a:t>: Static, cannot adapt to real-time flow.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rgbClr val="FF00FF"/>
                </a:solidFill>
              </a:rPr>
              <a:t>Police Deployment</a:t>
            </a:r>
            <a:r>
              <a:rPr dirty="0"/>
              <a:t>: Arrives after panic begins.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rgbClr val="FF00FF"/>
                </a:solidFill>
              </a:rPr>
              <a:t>Public Announcements</a:t>
            </a:r>
            <a:r>
              <a:rPr dirty="0"/>
              <a:t>: Too late, crowd is already crushing.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Introducing CrowdShield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AI That Sees Danger </a:t>
            </a:r>
            <a:r>
              <a:rPr b="1" dirty="0">
                <a:solidFill>
                  <a:srgbClr val="FF00FF"/>
                </a:solidFill>
              </a:rPr>
              <a:t>10 Minutes </a:t>
            </a:r>
            <a:r>
              <a:rPr dirty="0"/>
              <a:t>Before It Happens.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SEE</a:t>
            </a:r>
            <a:r>
              <a:rPr dirty="0"/>
              <a:t>: Real-time density &amp; motion tracking from existing cameras.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PREDICT</a:t>
            </a:r>
            <a:r>
              <a:rPr dirty="0"/>
              <a:t>: Physics-based risk prediction forecasting crush ETA.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PROTECT</a:t>
            </a:r>
            <a:r>
              <a:rPr dirty="0"/>
              <a:t>: Automated gate controls and citizen alerts.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Transforms crowd management from reactive to </a:t>
            </a:r>
            <a:r>
              <a:rPr b="1" dirty="0">
                <a:solidFill>
                  <a:srgbClr val="FF00FF"/>
                </a:solidFill>
              </a:rPr>
              <a:t>predictive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How It Works: Inspired by Physics, Powered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785652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We don't just count </a:t>
            </a:r>
            <a:r>
              <a:rPr b="1" dirty="0">
                <a:solidFill>
                  <a:srgbClr val="FF00FF"/>
                </a:solidFill>
              </a:rPr>
              <a:t>people</a:t>
            </a:r>
            <a:r>
              <a:rPr dirty="0"/>
              <a:t>. We use real </a:t>
            </a:r>
            <a:r>
              <a:rPr b="1" dirty="0">
                <a:solidFill>
                  <a:srgbClr val="FF00FF"/>
                </a:solidFill>
              </a:rPr>
              <a:t>physics</a:t>
            </a:r>
            <a:r>
              <a:rPr dirty="0"/>
              <a:t>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Frame Stabilization: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/>
              <a:t>Stabilizes video using </a:t>
            </a:r>
            <a:r>
              <a:rPr lang="en-US" sz="2000" b="1" dirty="0">
                <a:solidFill>
                  <a:srgbClr val="FF00FF"/>
                </a:solidFill>
              </a:rPr>
              <a:t>Lucas–Kanade optical flow and RANSAC </a:t>
            </a:r>
            <a:r>
              <a:rPr lang="en-US" sz="2000" dirty="0"/>
              <a:t>based motion estimation.</a:t>
            </a:r>
            <a:r>
              <a:rPr dirty="0"/>
              <a:t> 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Optical Flow Vectors:</a:t>
            </a:r>
            <a:r>
              <a:rPr lang="en-US" b="1" dirty="0">
                <a:solidFill>
                  <a:srgbClr val="FF00FF"/>
                </a:solidFill>
              </a:rPr>
              <a:t> </a:t>
            </a:r>
            <a:r>
              <a:rPr lang="en-US" sz="2000" dirty="0"/>
              <a:t>Uses the </a:t>
            </a:r>
            <a:r>
              <a:rPr lang="en-US" sz="2000" b="1" dirty="0" err="1">
                <a:solidFill>
                  <a:srgbClr val="FF00FF"/>
                </a:solidFill>
              </a:rPr>
              <a:t>Farneback</a:t>
            </a:r>
            <a:r>
              <a:rPr lang="en-US" sz="2000" b="1" dirty="0">
                <a:solidFill>
                  <a:srgbClr val="FF00FF"/>
                </a:solidFill>
              </a:rPr>
              <a:t> algorithm </a:t>
            </a:r>
            <a:r>
              <a:rPr lang="en-US" sz="2000" dirty="0"/>
              <a:t>to estimate dense pixel-level motion between consecutive frames.</a:t>
            </a:r>
            <a:endParaRPr lang="en-US" b="1" dirty="0">
              <a:solidFill>
                <a:srgbClr val="FF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 err="1">
                <a:solidFill>
                  <a:srgbClr val="FF00FF"/>
                </a:solidFill>
              </a:rPr>
              <a:t>Homography</a:t>
            </a:r>
            <a:r>
              <a:rPr lang="en-US" b="1" dirty="0"/>
              <a:t> </a:t>
            </a:r>
            <a:r>
              <a:rPr lang="en-US" b="1" dirty="0">
                <a:solidFill>
                  <a:srgbClr val="FF00FF"/>
                </a:solidFill>
              </a:rPr>
              <a:t>Mapping: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/>
              <a:t>Transforms 2D camera pixels into an accurate top-down 3D venue               coordinate map.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Grid Zones:</a:t>
            </a:r>
            <a:r>
              <a:rPr lang="en-US" b="1" dirty="0"/>
              <a:t> </a:t>
            </a:r>
            <a:r>
              <a:rPr lang="en-US" dirty="0"/>
              <a:t>Venue is divided into grids to calculate local density and pinpoint precise congestion hotspots.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Helbing Turbulence Model: </a:t>
            </a:r>
            <a:r>
              <a:rPr lang="en-US" dirty="0"/>
              <a:t>Crowd pressure = density x (1 + speed x variance).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Anomaly Detection: </a:t>
            </a:r>
            <a:r>
              <a:rPr lang="en-US" dirty="0"/>
              <a:t>Detects sudden surges, panic onset, panic propagation, rapid dispersal, and reverse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The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Full Situational Awareness for Authorities.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Live AI Density Map: </a:t>
            </a:r>
            <a:r>
              <a:rPr lang="en-US" dirty="0"/>
              <a:t>Powered by </a:t>
            </a:r>
            <a:r>
              <a:rPr lang="en-US" b="1" dirty="0" err="1"/>
              <a:t>Homography</a:t>
            </a:r>
            <a:r>
              <a:rPr lang="en-US" dirty="0"/>
              <a:t> to overlay accurate hotspots on the </a:t>
            </a:r>
            <a:r>
              <a:rPr lang="en-US" b="1" dirty="0"/>
              <a:t>Digital Twin venue map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Flow Analytics: </a:t>
            </a:r>
            <a:r>
              <a:rPr lang="en-US" dirty="0"/>
              <a:t>Realtime high performance crowd flow analytics based on </a:t>
            </a:r>
            <a:r>
              <a:rPr lang="en-US" b="1" dirty="0">
                <a:solidFill>
                  <a:srgbClr val="FF00FF"/>
                </a:solidFill>
              </a:rPr>
              <a:t>crowd physics.</a:t>
            </a:r>
            <a:endParaRPr b="1" dirty="0">
              <a:solidFill>
                <a:srgbClr val="FF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Dynamic Risk Gauge &amp; Crowd Trend Charts:</a:t>
            </a:r>
            <a:r>
              <a:rPr lang="en-US" sz="2000" dirty="0">
                <a:solidFill>
                  <a:srgbClr val="FF00FF"/>
                </a:solidFill>
              </a:rPr>
              <a:t> </a:t>
            </a:r>
            <a:r>
              <a:rPr lang="en-US" sz="2000" dirty="0"/>
              <a:t>Displays </a:t>
            </a:r>
            <a:r>
              <a:rPr lang="en-US" sz="2000" b="1" dirty="0">
                <a:solidFill>
                  <a:schemeClr val="bg1"/>
                </a:solidFill>
              </a:rPr>
              <a:t>real-time risk scores and crowd movement trends</a:t>
            </a:r>
            <a:r>
              <a:rPr lang="en-US" sz="2000" dirty="0"/>
              <a:t> derived from detected density, motion, and </a:t>
            </a:r>
            <a:r>
              <a:rPr lang="en-US" sz="2000" dirty="0" err="1"/>
              <a:t>behavioural</a:t>
            </a:r>
            <a:r>
              <a:rPr lang="en-US" sz="2000" dirty="0"/>
              <a:t> patterns.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Live Incident Reports</a:t>
            </a:r>
            <a:r>
              <a:rPr lang="en-US" sz="2000" b="1" dirty="0"/>
              <a:t>:</a:t>
            </a:r>
            <a:r>
              <a:rPr lang="en-US" sz="2000" dirty="0"/>
              <a:t> Real-time reports with location submitted through the </a:t>
            </a:r>
            <a:r>
              <a:rPr lang="en-US" sz="2000" dirty="0" err="1"/>
              <a:t>CrowdShield</a:t>
            </a:r>
            <a:r>
              <a:rPr lang="en-US" sz="2000" dirty="0"/>
              <a:t> app.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Live SOS Monitoring</a:t>
            </a:r>
            <a:r>
              <a:rPr lang="en-US" sz="2000" b="1" dirty="0">
                <a:solidFill>
                  <a:srgbClr val="FF00FF"/>
                </a:solidFill>
              </a:rPr>
              <a:t>: </a:t>
            </a:r>
            <a:r>
              <a:rPr lang="en-US" sz="2000" dirty="0"/>
              <a:t>Pinpoints the exact location on the venue map for rapid response.</a:t>
            </a:r>
            <a:endParaRPr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Gate Control Panel: </a:t>
            </a:r>
            <a:r>
              <a:rPr dirty="0"/>
              <a:t>AI recommends which gates to restrict or open.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00FF"/>
                </a:solidFill>
              </a:rPr>
              <a:t>Steward Deployment</a:t>
            </a:r>
            <a:r>
              <a:rPr b="1" dirty="0">
                <a:solidFill>
                  <a:srgbClr val="FF00FF"/>
                </a:solidFill>
              </a:rPr>
              <a:t>: </a:t>
            </a:r>
            <a:r>
              <a:rPr lang="en-US" sz="2000" dirty="0"/>
              <a:t>AI recommends the optimal number of stewards based on crowd risk levels and real-time crowd </a:t>
            </a:r>
            <a:r>
              <a:rPr lang="en-US" sz="2000" dirty="0" err="1"/>
              <a:t>behaviour</a:t>
            </a:r>
            <a:r>
              <a:rPr lang="en-US" sz="2000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Citizen Mobile App: Safety in the Palm of Your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Every </a:t>
            </a:r>
            <a:r>
              <a:rPr b="1" dirty="0">
                <a:solidFill>
                  <a:srgbClr val="FF00FF"/>
                </a:solidFill>
              </a:rPr>
              <a:t>Citizen</a:t>
            </a:r>
            <a:r>
              <a:rPr dirty="0"/>
              <a:t> Becomes a Safety Sensor.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Indoor Navigation (PDR): </a:t>
            </a:r>
            <a:r>
              <a:rPr dirty="0"/>
              <a:t>Uses phone </a:t>
            </a:r>
            <a:r>
              <a:rPr b="1" dirty="0">
                <a:solidFill>
                  <a:srgbClr val="FF00FF"/>
                </a:solidFill>
              </a:rPr>
              <a:t>Accelerometer + Magnetometer </a:t>
            </a:r>
            <a:r>
              <a:rPr dirty="0"/>
              <a:t>to track indoor steps without relying on inaccurate GPS.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Safety Compass: </a:t>
            </a:r>
            <a:r>
              <a:rPr dirty="0"/>
              <a:t>A dynamic arrow points to the nearest </a:t>
            </a:r>
            <a:r>
              <a:rPr b="1" dirty="0">
                <a:solidFill>
                  <a:srgbClr val="FF00FF"/>
                </a:solidFill>
              </a:rPr>
              <a:t>safe exit</a:t>
            </a:r>
            <a:r>
              <a:rPr dirty="0"/>
              <a:t>, guiding citizens during panic.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SOS &amp; Incident Reports: One-tap</a:t>
            </a:r>
            <a:r>
              <a:rPr dirty="0"/>
              <a:t> reporting sends exact GPS coordinates to the Command Center.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Live Alerts: </a:t>
            </a:r>
            <a:r>
              <a:rPr dirty="0"/>
              <a:t>Real-time </a:t>
            </a:r>
            <a:r>
              <a:rPr b="1" dirty="0">
                <a:solidFill>
                  <a:srgbClr val="FF00FF"/>
                </a:solidFill>
              </a:rPr>
              <a:t>GREEN/YELLOW/RED </a:t>
            </a:r>
            <a:r>
              <a:rPr dirty="0"/>
              <a:t>status pushed to phones.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Multilingual Announcements:</a:t>
            </a:r>
            <a:r>
              <a:rPr lang="en-US" sz="2000" dirty="0">
                <a:solidFill>
                  <a:srgbClr val="FF00FF"/>
                </a:solidFill>
              </a:rPr>
              <a:t> </a:t>
            </a:r>
            <a:r>
              <a:rPr lang="en-US" sz="2000" dirty="0"/>
              <a:t>Safety notifications automatically customized to the user's preferred language.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00FF"/>
                </a:solidFill>
              </a:rPr>
              <a:t>Voice Incident Reporting:</a:t>
            </a:r>
            <a:r>
              <a:rPr lang="en-US" sz="2000" dirty="0">
                <a:solidFill>
                  <a:srgbClr val="FF00FF"/>
                </a:solidFill>
              </a:rPr>
              <a:t> </a:t>
            </a:r>
            <a:r>
              <a:rPr lang="en-US" sz="2000" dirty="0"/>
              <a:t>Hold mic button to describe any incident, </a:t>
            </a:r>
            <a:r>
              <a:rPr lang="en-US" sz="2000" dirty="0">
                <a:solidFill>
                  <a:srgbClr val="FF00FF"/>
                </a:solidFill>
              </a:rPr>
              <a:t>auto-categorize</a:t>
            </a:r>
            <a:r>
              <a:rPr lang="en-US" sz="2000" dirty="0"/>
              <a:t> via AI, and trigger rapid response to user’s exact GPS location.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Built for Scale. Deployed on Existing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b="1" dirty="0">
                <a:solidFill>
                  <a:srgbClr val="FF00FF"/>
                </a:solidFill>
              </a:rPr>
              <a:t>Zero</a:t>
            </a:r>
            <a:r>
              <a:rPr dirty="0"/>
              <a:t> additional hardware cost.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Connects to existing CCTV feeds.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Mobile app works on any </a:t>
            </a:r>
            <a:r>
              <a:rPr b="1" dirty="0">
                <a:solidFill>
                  <a:srgbClr val="FF00FF"/>
                </a:solidFill>
              </a:rPr>
              <a:t>standard</a:t>
            </a:r>
            <a:r>
              <a:rPr dirty="0"/>
              <a:t> smartphone.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Scales effortlessly from </a:t>
            </a:r>
            <a:r>
              <a:rPr b="1" dirty="0">
                <a:solidFill>
                  <a:srgbClr val="FF00FF"/>
                </a:solidFill>
              </a:rPr>
              <a:t>local</a:t>
            </a:r>
            <a:r>
              <a:rPr b="1" dirty="0"/>
              <a:t> </a:t>
            </a:r>
            <a:r>
              <a:rPr b="1" dirty="0">
                <a:solidFill>
                  <a:srgbClr val="FF00FF"/>
                </a:solidFill>
              </a:rPr>
              <a:t>melas</a:t>
            </a:r>
            <a:r>
              <a:rPr b="1" dirty="0"/>
              <a:t> </a:t>
            </a:r>
            <a:r>
              <a:rPr dirty="0"/>
              <a:t>to national-level gatherings.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Data Ethics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Privacy by </a:t>
            </a:r>
            <a:r>
              <a:rPr b="1" dirty="0">
                <a:solidFill>
                  <a:srgbClr val="FF00FF"/>
                </a:solidFill>
              </a:rPr>
              <a:t>Design</a:t>
            </a:r>
            <a:r>
              <a:rPr dirty="0"/>
              <a:t>. No </a:t>
            </a:r>
            <a:r>
              <a:rPr b="1" dirty="0">
                <a:solidFill>
                  <a:srgbClr val="FF00FF"/>
                </a:solidFill>
              </a:rPr>
              <a:t>Faces</a:t>
            </a:r>
            <a:r>
              <a:rPr dirty="0"/>
              <a:t>. No </a:t>
            </a:r>
            <a:r>
              <a:rPr b="1" dirty="0">
                <a:solidFill>
                  <a:srgbClr val="FF00FF"/>
                </a:solidFill>
              </a:rPr>
              <a:t>Identity</a:t>
            </a:r>
            <a:r>
              <a:rPr dirty="0"/>
              <a:t>. No </a:t>
            </a:r>
            <a:r>
              <a:rPr b="1" dirty="0">
                <a:solidFill>
                  <a:srgbClr val="FF00FF"/>
                </a:solidFill>
              </a:rPr>
              <a:t>Compromise</a:t>
            </a:r>
            <a:r>
              <a:rPr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What We DO: Count anonymous bounding boxes, track aggregate </a:t>
            </a:r>
            <a:r>
              <a:rPr b="1" dirty="0">
                <a:solidFill>
                  <a:srgbClr val="FF00FF"/>
                </a:solidFill>
              </a:rPr>
              <a:t>flow vectors</a:t>
            </a:r>
            <a:r>
              <a:rPr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What We NEVER DO: Facial recognition, individual tracking, cloud upload of video.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 err="1"/>
              <a:t>CrowdShield</a:t>
            </a:r>
            <a:r>
              <a:rPr dirty="0"/>
              <a:t> sees the </a:t>
            </a:r>
            <a:r>
              <a:rPr b="1" dirty="0">
                <a:solidFill>
                  <a:srgbClr val="FF00FF"/>
                </a:solidFill>
              </a:rPr>
              <a:t>crowd</a:t>
            </a:r>
            <a:r>
              <a:rPr dirty="0"/>
              <a:t>, never the individual.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Impact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From </a:t>
            </a:r>
            <a:r>
              <a:rPr b="1" dirty="0">
                <a:solidFill>
                  <a:srgbClr val="FF00FF"/>
                </a:solidFill>
              </a:rPr>
              <a:t>0 Minutes Warning to 10 Minutes Warning</a:t>
            </a:r>
            <a:r>
              <a:rPr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"Imagine a future where a district administration receives an alert </a:t>
            </a:r>
            <a:r>
              <a:rPr b="1" dirty="0">
                <a:solidFill>
                  <a:srgbClr val="FF00FF"/>
                </a:solidFill>
              </a:rPr>
              <a:t>10 minutes </a:t>
            </a:r>
            <a:r>
              <a:rPr dirty="0"/>
              <a:t>before a dangerous crowd crush develops..."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This was the </a:t>
            </a:r>
            <a:r>
              <a:rPr b="1" dirty="0" err="1">
                <a:solidFill>
                  <a:srgbClr val="FF00FF"/>
                </a:solidFill>
              </a:rPr>
              <a:t>TechNova</a:t>
            </a:r>
            <a:r>
              <a:rPr lang="en-US" b="1" dirty="0" err="1">
                <a:solidFill>
                  <a:srgbClr val="FF00FF"/>
                </a:solidFill>
              </a:rPr>
              <a:t>’s</a:t>
            </a:r>
            <a:r>
              <a:rPr b="1" dirty="0">
                <a:solidFill>
                  <a:srgbClr val="FF00FF"/>
                </a:solidFill>
              </a:rPr>
              <a:t> Success Vision</a:t>
            </a:r>
            <a:r>
              <a:rPr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dirty="0"/>
              <a:t>We built exactly this. </a:t>
            </a:r>
            <a:r>
              <a:rPr b="1" dirty="0">
                <a:solidFill>
                  <a:srgbClr val="FF00FF"/>
                </a:solidFill>
              </a:rPr>
              <a:t>10 minutes to open gates</a:t>
            </a:r>
            <a:r>
              <a:rPr dirty="0"/>
              <a:t>. </a:t>
            </a:r>
            <a:r>
              <a:rPr b="1" dirty="0">
                <a:solidFill>
                  <a:srgbClr val="FF00FF"/>
                </a:solidFill>
              </a:rPr>
              <a:t>10 minutes to save lives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 err="1"/>
              <a:t>CrowdShield</a:t>
            </a:r>
            <a:r>
              <a:rPr dirty="0"/>
              <a:t> — Saving </a:t>
            </a:r>
            <a:r>
              <a:rPr b="1" dirty="0">
                <a:solidFill>
                  <a:srgbClr val="FF00FF"/>
                </a:solidFill>
              </a:rPr>
              <a:t>Lives</a:t>
            </a:r>
            <a:r>
              <a:rPr dirty="0"/>
              <a:t> Through </a:t>
            </a:r>
            <a:r>
              <a:rPr dirty="0">
                <a:solidFill>
                  <a:srgbClr val="FF00FF"/>
                </a:solidFill>
              </a:rPr>
              <a:t>Predictive AI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FF00FF"/>
                </a:solidFill>
              </a:rPr>
              <a:t>Team Fischer Random</a:t>
            </a:r>
            <a:br>
              <a:rPr dirty="0"/>
            </a:br>
            <a:r>
              <a:rPr b="1" dirty="0" err="1"/>
              <a:t>Technova</a:t>
            </a:r>
            <a:r>
              <a:rPr b="1" dirty="0"/>
              <a:t> </a:t>
            </a:r>
            <a:r>
              <a:rPr b="1" dirty="0" err="1"/>
              <a:t>CrowdShield</a:t>
            </a:r>
            <a:r>
              <a:rPr b="1" dirty="0"/>
              <a:t> </a:t>
            </a:r>
            <a:r>
              <a:rPr lang="en-US" b="1" dirty="0"/>
              <a:t>Igniting Brilliance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684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Rajib Mishra</cp:lastModifiedBy>
  <cp:revision>7</cp:revision>
  <dcterms:created xsi:type="dcterms:W3CDTF">2013-01-27T09:14:16Z</dcterms:created>
  <dcterms:modified xsi:type="dcterms:W3CDTF">2026-08-22T22:40:45Z</dcterms:modified>
  <cp:category/>
</cp:coreProperties>
</file>